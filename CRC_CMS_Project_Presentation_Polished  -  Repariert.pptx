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69B6E-76BE-4881-9624-52890E31B274}" v="43" dt="2026-05-25T20:22:52.995"/>
    <p1510:client id="{603C3BE6-42C7-48AD-B337-3FDCA4BB48F0}" v="38" dt="2026-05-25T20:46:58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0" autoAdjust="0"/>
    <p:restoredTop sz="58361" autoAdjust="0"/>
  </p:normalViewPr>
  <p:slideViewPr>
    <p:cSldViewPr snapToGrid="0" snapToObjects="1">
      <p:cViewPr varScale="1">
        <p:scale>
          <a:sx n="60" d="100"/>
          <a:sy n="60" d="100"/>
        </p:scale>
        <p:origin x="1185" y="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ürer Serna (suereser)" userId="ddb14714-33f2-41a4-9d4a-a32881836c06" providerId="ADAL" clId="{4E4F5ED6-D440-45AF-B447-D527E23C6F94}"/>
    <pc:docChg chg="custSel modSld">
      <pc:chgData name="Sürer Serna (suereser)" userId="ddb14714-33f2-41a4-9d4a-a32881836c06" providerId="ADAL" clId="{4E4F5ED6-D440-45AF-B447-D527E23C6F94}" dt="2026-05-25T20:22:52.994" v="42" actId="5793"/>
      <pc:docMkLst>
        <pc:docMk/>
      </pc:docMkLst>
      <pc:sldChg chg="modNotesTx">
        <pc:chgData name="Sürer Serna (suereser)" userId="ddb14714-33f2-41a4-9d4a-a32881836c06" providerId="ADAL" clId="{4E4F5ED6-D440-45AF-B447-D527E23C6F94}" dt="2026-05-25T20:20:55.519" v="23" actId="20577"/>
        <pc:sldMkLst>
          <pc:docMk/>
          <pc:sldMk cId="0" sldId="258"/>
        </pc:sldMkLst>
      </pc:sldChg>
      <pc:sldChg chg="addSp modSp mod">
        <pc:chgData name="Sürer Serna (suereser)" userId="ddb14714-33f2-41a4-9d4a-a32881836c06" providerId="ADAL" clId="{4E4F5ED6-D440-45AF-B447-D527E23C6F94}" dt="2026-05-25T20:22:52.994" v="42" actId="5793"/>
        <pc:sldMkLst>
          <pc:docMk/>
          <pc:sldMk cId="0" sldId="260"/>
        </pc:sldMkLst>
        <pc:spChg chg="add mod">
          <ac:chgData name="Sürer Serna (suereser)" userId="ddb14714-33f2-41a4-9d4a-a32881836c06" providerId="ADAL" clId="{4E4F5ED6-D440-45AF-B447-D527E23C6F94}" dt="2026-05-25T20:22:52.994" v="42" actId="5793"/>
          <ac:spMkLst>
            <pc:docMk/>
            <pc:sldMk cId="0" sldId="260"/>
            <ac:spMk id="17" creationId="{A9DDB91D-76FF-D543-5189-C8F71F5798EC}"/>
          </ac:spMkLst>
        </pc:spChg>
      </pc:sldChg>
    </pc:docChg>
  </pc:docChgLst>
  <pc:docChgLst>
    <pc:chgData name="Baldi Luca (baldiluc)" userId="d0ae3073-e990-425c-90e7-5ccae76309be" providerId="ADAL" clId="{E1AD2E4B-222F-4ED1-8503-9EBD8CE6AC89}"/>
    <pc:docChg chg="undo custSel delSld modSld">
      <pc:chgData name="Baldi Luca (baldiluc)" userId="d0ae3073-e990-425c-90e7-5ccae76309be" providerId="ADAL" clId="{E1AD2E4B-222F-4ED1-8503-9EBD8CE6AC89}" dt="2026-05-26T10:23:54.211" v="281" actId="20577"/>
      <pc:docMkLst>
        <pc:docMk/>
      </pc:docMkLst>
      <pc:sldChg chg="delSp modSp mod modNotesTx">
        <pc:chgData name="Baldi Luca (baldiluc)" userId="d0ae3073-e990-425c-90e7-5ccae76309be" providerId="ADAL" clId="{E1AD2E4B-222F-4ED1-8503-9EBD8CE6AC89}" dt="2026-05-25T21:24:34.623" v="241" actId="20577"/>
        <pc:sldMkLst>
          <pc:docMk/>
          <pc:sldMk cId="0" sldId="256"/>
        </pc:sldMkLst>
        <pc:spChg chg="del">
          <ac:chgData name="Baldi Luca (baldiluc)" userId="d0ae3073-e990-425c-90e7-5ccae76309be" providerId="ADAL" clId="{E1AD2E4B-222F-4ED1-8503-9EBD8CE6AC89}" dt="2026-05-25T19:34:24.294" v="0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19:34:38.964" v="2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19:36:00.717" v="79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Sp mod modNotesTx">
        <pc:chgData name="Baldi Luca (baldiluc)" userId="d0ae3073-e990-425c-90e7-5ccae76309be" providerId="ADAL" clId="{E1AD2E4B-222F-4ED1-8503-9EBD8CE6AC89}" dt="2026-05-26T10:23:54.211" v="281" actId="20577"/>
        <pc:sldMkLst>
          <pc:docMk/>
          <pc:sldMk cId="0" sldId="257"/>
        </pc:sldMkLst>
        <pc:spChg chg="del mod">
          <ac:chgData name="Baldi Luca (baldiluc)" userId="d0ae3073-e990-425c-90e7-5ccae76309be" providerId="ADAL" clId="{E1AD2E4B-222F-4ED1-8503-9EBD8CE6AC89}" dt="2026-05-25T19:42:59.975" v="91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6T08:18:55.774" v="280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6T08:18:48.967" v="279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19:43:30.485" v="95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19:43:39.645" v="96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19:39:04.755" v="89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19:39:11.953" v="90" actId="1076"/>
          <ac:spMkLst>
            <pc:docMk/>
            <pc:sldMk cId="0" sldId="257"/>
            <ac:spMk id="26" creationId="{00000000-0000-0000-0000-000000000000}"/>
          </ac:spMkLst>
        </pc:spChg>
      </pc:sldChg>
      <pc:sldChg chg="modSp mod modNotesTx">
        <pc:chgData name="Baldi Luca (baldiluc)" userId="d0ae3073-e990-425c-90e7-5ccae76309be" providerId="ADAL" clId="{E1AD2E4B-222F-4ED1-8503-9EBD8CE6AC89}" dt="2026-05-25T19:54:21.455" v="181" actId="20577"/>
        <pc:sldMkLst>
          <pc:docMk/>
          <pc:sldMk cId="0" sldId="258"/>
        </pc:sldMkLst>
        <pc:spChg chg="mod">
          <ac:chgData name="Baldi Luca (baldiluc)" userId="d0ae3073-e990-425c-90e7-5ccae76309be" providerId="ADAL" clId="{E1AD2E4B-222F-4ED1-8503-9EBD8CE6AC89}" dt="2026-05-25T19:54:21.455" v="181" actId="20577"/>
          <ac:spMkLst>
            <pc:docMk/>
            <pc:sldMk cId="0" sldId="258"/>
            <ac:spMk id="25" creationId="{00000000-0000-0000-0000-000000000000}"/>
          </ac:spMkLst>
        </pc:spChg>
      </pc:sldChg>
      <pc:sldChg chg="modNotesTx">
        <pc:chgData name="Baldi Luca (baldiluc)" userId="d0ae3073-e990-425c-90e7-5ccae76309be" providerId="ADAL" clId="{E1AD2E4B-222F-4ED1-8503-9EBD8CE6AC89}" dt="2026-05-25T20:19:42.875" v="191" actId="20577"/>
        <pc:sldMkLst>
          <pc:docMk/>
          <pc:sldMk cId="0" sldId="259"/>
        </pc:sldMkLst>
      </pc:sldChg>
      <pc:sldChg chg="del">
        <pc:chgData name="Baldi Luca (baldiluc)" userId="d0ae3073-e990-425c-90e7-5ccae76309be" providerId="ADAL" clId="{E1AD2E4B-222F-4ED1-8503-9EBD8CE6AC89}" dt="2026-05-25T21:24:11.476" v="211" actId="2696"/>
        <pc:sldMkLst>
          <pc:docMk/>
          <pc:sldMk cId="0" sldId="260"/>
        </pc:sldMkLst>
      </pc:sldChg>
      <pc:sldChg chg="delSp mod">
        <pc:chgData name="Baldi Luca (baldiluc)" userId="d0ae3073-e990-425c-90e7-5ccae76309be" providerId="ADAL" clId="{E1AD2E4B-222F-4ED1-8503-9EBD8CE6AC89}" dt="2026-05-25T21:32:23.695" v="267" actId="478"/>
        <pc:sldMkLst>
          <pc:docMk/>
          <pc:sldMk cId="0" sldId="261"/>
        </pc:sldMkLst>
        <pc:spChg chg="del">
          <ac:chgData name="Baldi Luca (baldiluc)" userId="d0ae3073-e990-425c-90e7-5ccae76309be" providerId="ADAL" clId="{E1AD2E4B-222F-4ED1-8503-9EBD8CE6AC89}" dt="2026-05-25T21:32:14.395" v="264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Baldi Luca (baldiluc)" userId="d0ae3073-e990-425c-90e7-5ccae76309be" providerId="ADAL" clId="{E1AD2E4B-222F-4ED1-8503-9EBD8CE6AC89}" dt="2026-05-25T21:32:23.695" v="267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Baldi Luca (baldiluc)" userId="d0ae3073-e990-425c-90e7-5ccae76309be" providerId="ADAL" clId="{E1AD2E4B-222F-4ED1-8503-9EBD8CE6AC89}" dt="2026-05-25T21:32:21.974" v="266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Baldi Luca (baldiluc)" userId="d0ae3073-e990-425c-90e7-5ccae76309be" providerId="ADAL" clId="{E1AD2E4B-222F-4ED1-8503-9EBD8CE6AC89}" dt="2026-05-25T21:32:17.706" v="265" actId="478"/>
          <ac:spMkLst>
            <pc:docMk/>
            <pc:sldMk cId="0" sldId="261"/>
            <ac:spMk id="27" creationId="{00000000-0000-0000-0000-000000000000}"/>
          </ac:spMkLst>
        </pc:spChg>
      </pc:sldChg>
      <pc:sldChg chg="delSp modSp mod">
        <pc:chgData name="Baldi Luca (baldiluc)" userId="d0ae3073-e990-425c-90e7-5ccae76309be" providerId="ADAL" clId="{E1AD2E4B-222F-4ED1-8503-9EBD8CE6AC89}" dt="2026-05-25T21:34:03.313" v="272" actId="478"/>
        <pc:sldMkLst>
          <pc:docMk/>
          <pc:sldMk cId="0" sldId="262"/>
        </pc:sldMkLst>
        <pc:spChg chg="del">
          <ac:chgData name="Baldi Luca (baldiluc)" userId="d0ae3073-e990-425c-90e7-5ccae76309be" providerId="ADAL" clId="{E1AD2E4B-222F-4ED1-8503-9EBD8CE6AC89}" dt="2026-05-25T21:33:54.893" v="268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Baldi Luca (baldiluc)" userId="d0ae3073-e990-425c-90e7-5ccae76309be" providerId="ADAL" clId="{E1AD2E4B-222F-4ED1-8503-9EBD8CE6AC89}" dt="2026-05-25T21:33:58.701" v="270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Baldi Luca (baldiluc)" userId="d0ae3073-e990-425c-90e7-5ccae76309be" providerId="ADAL" clId="{E1AD2E4B-222F-4ED1-8503-9EBD8CE6AC89}" dt="2026-05-25T21:33:56.772" v="269" actId="478"/>
          <ac:spMkLst>
            <pc:docMk/>
            <pc:sldMk cId="0" sldId="262"/>
            <ac:spMk id="19" creationId="{00000000-0000-0000-0000-000000000000}"/>
          </ac:spMkLst>
        </pc:spChg>
        <pc:spChg chg="del mod">
          <ac:chgData name="Baldi Luca (baldiluc)" userId="d0ae3073-e990-425c-90e7-5ccae76309be" providerId="ADAL" clId="{E1AD2E4B-222F-4ED1-8503-9EBD8CE6AC89}" dt="2026-05-25T21:34:03.313" v="272" actId="478"/>
          <ac:spMkLst>
            <pc:docMk/>
            <pc:sldMk cId="0" sldId="262"/>
            <ac:spMk id="20" creationId="{00000000-0000-0000-0000-000000000000}"/>
          </ac:spMkLst>
        </pc:spChg>
      </pc:sldChg>
      <pc:sldChg chg="modSp mod modNotesTx">
        <pc:chgData name="Baldi Luca (baldiluc)" userId="d0ae3073-e990-425c-90e7-5ccae76309be" providerId="ADAL" clId="{E1AD2E4B-222F-4ED1-8503-9EBD8CE6AC89}" dt="2026-05-25T20:43:56" v="209" actId="1076"/>
        <pc:sldMkLst>
          <pc:docMk/>
          <pc:sldMk cId="0" sldId="263"/>
        </pc:sldMkLst>
        <pc:spChg chg="mod">
          <ac:chgData name="Baldi Luca (baldiluc)" userId="d0ae3073-e990-425c-90e7-5ccae76309be" providerId="ADAL" clId="{E1AD2E4B-222F-4ED1-8503-9EBD8CE6AC89}" dt="2026-05-25T20:42:29.515" v="197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20:43:56" v="209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20:43:49.345" v="208" actId="27636"/>
          <ac:spMkLst>
            <pc:docMk/>
            <pc:sldMk cId="0" sldId="263"/>
            <ac:spMk id="31" creationId="{00000000-0000-0000-0000-000000000000}"/>
          </ac:spMkLst>
        </pc:spChg>
      </pc:sldChg>
      <pc:sldChg chg="modSp mod">
        <pc:chgData name="Baldi Luca (baldiluc)" userId="d0ae3073-e990-425c-90e7-5ccae76309be" providerId="ADAL" clId="{E1AD2E4B-222F-4ED1-8503-9EBD8CE6AC89}" dt="2026-05-25T21:40:00.031" v="278" actId="20577"/>
        <pc:sldMkLst>
          <pc:docMk/>
          <pc:sldMk cId="0" sldId="265"/>
        </pc:sldMkLst>
        <pc:spChg chg="mod">
          <ac:chgData name="Baldi Luca (baldiluc)" userId="d0ae3073-e990-425c-90e7-5ccae76309be" providerId="ADAL" clId="{E1AD2E4B-222F-4ED1-8503-9EBD8CE6AC89}" dt="2026-05-25T20:46:58.371" v="210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Baldi Luca (baldiluc)" userId="d0ae3073-e990-425c-90e7-5ccae76309be" providerId="ADAL" clId="{E1AD2E4B-222F-4ED1-8503-9EBD8CE6AC89}" dt="2026-05-25T21:40:00.031" v="278" actId="20577"/>
          <ac:spMkLst>
            <pc:docMk/>
            <pc:sldMk cId="0" sldId="265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de-CH" dirty="0"/>
            </a:br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images/tit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663854"/>
            <a:ext cx="5760720" cy="55302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5" name="Text 2"/>
          <p:cNvSpPr/>
          <p:nvPr/>
        </p:nvSpPr>
        <p:spPr>
          <a:xfrm>
            <a:off x="777240" y="7315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150876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Predicting Colorectal Cancer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Subtypes using a Feedforward Neural Network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85800" y="3200399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MLP workflow for CMS2 classification from high-dimensional gene expression data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3822192"/>
            <a:ext cx="10058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68580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Luca Baldi &amp; Serna Sürer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4425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&amp; motivation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heterogeneous tumors to a clear binary prediction task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581912"/>
            <a:ext cx="3017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TASK MATTERS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</a:rPr>
              <a:t>Colorectal cancer is biologically heterogeneous. CMS subtypes summarize molecular patterns that can differ across patients.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2788920"/>
            <a:ext cx="1371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 flipV="1">
            <a:off x="9253728" y="2157984"/>
            <a:ext cx="850392" cy="493776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 dirty="0"/>
          </a:p>
        </p:txBody>
      </p:sp>
      <p:sp>
        <p:nvSpPr>
          <p:cNvPr id="14" name="Shape 12"/>
          <p:cNvSpPr/>
          <p:nvPr/>
        </p:nvSpPr>
        <p:spPr>
          <a:xfrm>
            <a:off x="9253728" y="2926080"/>
            <a:ext cx="832104" cy="393192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5577840" y="2212848"/>
            <a:ext cx="1508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778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5687568" y="23774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expression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26680" y="2212848"/>
            <a:ext cx="1508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7836408" y="23774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104120" y="1801368"/>
            <a:ext cx="1234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10213848" y="196596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104120" y="2971800"/>
            <a:ext cx="1234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10213848" y="313639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non-CMS2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3296" y="3827501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4" name="Shape 22"/>
          <p:cNvSpPr/>
          <p:nvPr/>
        </p:nvSpPr>
        <p:spPr>
          <a:xfrm>
            <a:off x="521208" y="3822192"/>
            <a:ext cx="73152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5" name="Text 23"/>
          <p:cNvSpPr/>
          <p:nvPr/>
        </p:nvSpPr>
        <p:spPr>
          <a:xfrm>
            <a:off x="786384" y="390448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" y="4123944"/>
            <a:ext cx="4983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selected expression patterns separate CMS2 from the combined non-CMS2 group?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binary target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359 tumor samples · 56,271 gene-expression features · moderately imbalanced classes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9" name="Image 0" descr="/mnt/data/crc_assets/cell13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835008"/>
            <a:ext cx="5056632" cy="33251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60020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/>
          <p:nvPr/>
        </p:nvSpPr>
        <p:spPr>
          <a:xfrm>
            <a:off x="630936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359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09360" y="20299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726680" y="160020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1"/>
          <p:cNvSpPr/>
          <p:nvPr/>
        </p:nvSpPr>
        <p:spPr>
          <a:xfrm>
            <a:off x="786384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56k+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63840" y="20299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features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9281160" y="160020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4"/>
          <p:cNvSpPr/>
          <p:nvPr/>
        </p:nvSpPr>
        <p:spPr>
          <a:xfrm>
            <a:off x="941832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418320" y="20299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genes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72200" y="278892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7"/>
          <p:cNvSpPr/>
          <p:nvPr/>
        </p:nvSpPr>
        <p:spPr>
          <a:xfrm>
            <a:off x="6172200" y="2788920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8"/>
          <p:cNvSpPr/>
          <p:nvPr/>
        </p:nvSpPr>
        <p:spPr>
          <a:xfrm>
            <a:off x="6373368" y="2907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recoding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73368" y="3172968"/>
            <a:ext cx="41148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CMS2 is the positive class; CMS1, CMS3 and CMS4 are grouped as non-CMS2.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72200" y="38862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1"/>
          <p:cNvSpPr/>
          <p:nvPr/>
        </p:nvSpPr>
        <p:spPr>
          <a:xfrm>
            <a:off x="6172200" y="3886200"/>
            <a:ext cx="73152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2"/>
          <p:cNvSpPr/>
          <p:nvPr/>
        </p:nvSpPr>
        <p:spPr>
          <a:xfrm>
            <a:off x="6373368" y="4005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Moderately imbalanced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73368" y="4270248"/>
            <a:ext cx="4114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classes are not perfectly balanced, so balanced accuracy, precision, recall, F1-score and ROC-AUC are reported.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" y="5623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Class counts: CMS2 = 152 · non-CMS2 = 207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high-dimensional input is reduced and standardized before training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274320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251960" y="274320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6446520" y="274320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8641080" y="274320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685800" y="214884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795528" y="2313432"/>
            <a:ext cx="1472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 + CMS labels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88920" y="214884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2898648" y="2313432"/>
            <a:ext cx="1472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split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 / test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214884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001768" y="2313432"/>
            <a:ext cx="1472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constant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95160" y="214884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7104888" y="2313432"/>
            <a:ext cx="1472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ANOVA F-score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top 500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98280" y="214884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9208008" y="2313432"/>
            <a:ext cx="1472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34340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1115568" y="44622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Train/validation/test 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4727448"/>
            <a:ext cx="2697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251 / 54 / 54 samples. The test set is kept separate for final evaluation.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434340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4434840" y="4343400"/>
            <a:ext cx="73152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4636008" y="44622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feature selection?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36008" y="4727448"/>
            <a:ext cx="2697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56,271 genes with only 359 samples creates a high overfitting risk.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434340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7955280" y="4343400"/>
            <a:ext cx="73152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8156448" y="44622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scaling?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56448" y="4727448"/>
            <a:ext cx="2697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networks train more reliably when input features have comparable scales.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Model: compact PyTorch MLP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feedforward network turns 500 selected gene values into one CMS2 probability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260604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251960" y="260604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6629400" y="260604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9006840" y="2606040"/>
            <a:ext cx="8229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685800" y="201168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795528" y="2176272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genes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2852928" y="2176272"/>
            <a:ext cx="1563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layer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 + ReLU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2064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230368" y="2176272"/>
            <a:ext cx="1563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201168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7607808" y="2176272"/>
            <a:ext cx="1563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layer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+ ReLU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0" y="201168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9985248" y="2176272"/>
            <a:ext cx="1289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logit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</a:rPr>
              <a:t>Training setup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48463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Loss: binary cross-entropy with logits</a:t>
            </a:r>
            <a:endParaRPr lang="en-US" sz="1350" dirty="0"/>
          </a:p>
          <a:p>
            <a:r>
              <a:rPr lang="en-US" sz="13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Optimizer: Adam</a:t>
            </a:r>
            <a:endParaRPr lang="en-US" sz="1350" dirty="0"/>
          </a:p>
          <a:p>
            <a:r>
              <a:rPr lang="en-US" sz="13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Regularization: dropout + weight decay</a:t>
            </a:r>
            <a:endParaRPr lang="en-US" sz="1350" dirty="0"/>
          </a:p>
          <a:p>
            <a:r>
              <a:rPr lang="en-US" sz="13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stopping based on validation loss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behavior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loss reveals overfitting, so the best checkpoint is selected early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9" name="Image 0" descr="/mnt/data/crc_assets/cell26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54768"/>
            <a:ext cx="6519672" cy="366850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35240" y="1655064"/>
            <a:ext cx="301752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/>
          <p:nvPr/>
        </p:nvSpPr>
        <p:spPr>
          <a:xfrm>
            <a:off x="8046720" y="15544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CURVE SHOWS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635240" y="1965960"/>
            <a:ext cx="3337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loss drops quickly.</a:t>
            </a:r>
            <a:endParaRPr lang="en-US" sz="1500" dirty="0"/>
          </a:p>
          <a:p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loss increases after the first epochs.</a:t>
            </a:r>
            <a:endParaRPr lang="en-US" sz="1500" dirty="0"/>
          </a:p>
          <a:p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clear overfitting signal.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388620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1"/>
          <p:cNvSpPr/>
          <p:nvPr/>
        </p:nvSpPr>
        <p:spPr>
          <a:xfrm>
            <a:off x="7635240" y="3886200"/>
            <a:ext cx="73152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7836408" y="40050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36408" y="4270248"/>
            <a:ext cx="2971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stopping keeps the model state with the lowest validation loss instead of the last epoch.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test-set performance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model classifies most held-out samples correctly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0.926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141732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37744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0.930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18470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accuracy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69080" y="14173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20624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0.917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0" y="1847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23560" y="14173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76072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0.973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1847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242316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21" name="Image 0" descr="/mnt/data/crc_assets/cell30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8" y="2478024"/>
            <a:ext cx="4350704" cy="345643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172200" y="2423160"/>
            <a:ext cx="4709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23" name="Image 1" descr="/mnt/data/crc_assets/cell31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856" y="2478024"/>
            <a:ext cx="3413848" cy="345643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804672" y="6062472"/>
            <a:ext cx="470916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21"/>
          <p:cNvSpPr/>
          <p:nvPr/>
        </p:nvSpPr>
        <p:spPr>
          <a:xfrm>
            <a:off x="804672" y="6062472"/>
            <a:ext cx="7315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2"/>
          <p:cNvSpPr/>
          <p:nvPr/>
        </p:nvSpPr>
        <p:spPr>
          <a:xfrm>
            <a:off x="1005840" y="618134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313432" y="6117336"/>
            <a:ext cx="2939354" cy="229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4 of 54 test samples are misclassified: 3 false positives and 1 false negative.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291072" y="6062472"/>
            <a:ext cx="443484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Shape 25"/>
          <p:cNvSpPr/>
          <p:nvPr/>
        </p:nvSpPr>
        <p:spPr>
          <a:xfrm>
            <a:off x="6291072" y="6062472"/>
            <a:ext cx="73152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6"/>
          <p:cNvSpPr/>
          <p:nvPr/>
        </p:nvSpPr>
        <p:spPr>
          <a:xfrm>
            <a:off x="6492240" y="61813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curve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318248" y="6108193"/>
            <a:ext cx="3243072" cy="257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 ≈ 0.97 indicates strong separation on the held-out test split.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experiment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improves and stabilizes when more selected genes are used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5257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9" name="Image 0" descr="/mnt/data/crc_assets/cell37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84712"/>
            <a:ext cx="5148072" cy="31856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417320"/>
            <a:ext cx="5257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1" name="Image 1" descr="/mnt/data/crc_assets/cell38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582686"/>
            <a:ext cx="5148072" cy="318970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5230368"/>
            <a:ext cx="3337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9"/>
          <p:cNvSpPr/>
          <p:nvPr/>
        </p:nvSpPr>
        <p:spPr>
          <a:xfrm>
            <a:off x="914400" y="5230368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0"/>
          <p:cNvSpPr/>
          <p:nvPr/>
        </p:nvSpPr>
        <p:spPr>
          <a:xfrm>
            <a:off x="1115568" y="53492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15568" y="5614416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feature counts were tested across multiple random splits: 10, 25, 50, 100 and 500 genes.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80560" y="5230368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3"/>
          <p:cNvSpPr/>
          <p:nvPr/>
        </p:nvSpPr>
        <p:spPr>
          <a:xfrm>
            <a:off x="4480560" y="5230368"/>
            <a:ext cx="73152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4"/>
          <p:cNvSpPr/>
          <p:nvPr/>
        </p:nvSpPr>
        <p:spPr>
          <a:xfrm>
            <a:off x="4681728" y="5349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81728" y="5614416"/>
            <a:ext cx="2560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500 selected genes gives the highest mean F1-score and balanced accuracy.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635240" y="5230368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7"/>
          <p:cNvSpPr/>
          <p:nvPr/>
        </p:nvSpPr>
        <p:spPr>
          <a:xfrm>
            <a:off x="7635240" y="5230368"/>
            <a:ext cx="73152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18"/>
          <p:cNvSpPr/>
          <p:nvPr/>
        </p:nvSpPr>
        <p:spPr>
          <a:xfrm>
            <a:off x="7836408" y="53492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836408" y="5614416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CMS2 prediction benefits from a broader gene-expression signature rather than only a few genes.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932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 CMS2 prediction · PyTorch MLP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0140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609344"/>
            <a:ext cx="3017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CONCLUSION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9019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220"/>
                </a:solidFill>
              </a:rPr>
              <a:t>A compact PyTorch MLP can learn reproducible CMS2-related patterns from selected gene-expression features.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297180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978408" y="30906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Good test 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3355848"/>
            <a:ext cx="2788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achieved high F1-score and ROC-AUC on the held-out test split.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97180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4526280" y="2971800"/>
            <a:ext cx="73152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4727448" y="30906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Overfitting remains visible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7448" y="3355848"/>
            <a:ext cx="2788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validation loss curve shows why dropout, weight decay and early stopping are necessary.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75320" y="29718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8275320" y="2971800"/>
            <a:ext cx="73152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8476488" y="3090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Feature selection matters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76488" y="3355848"/>
            <a:ext cx="2468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 experiments support the final 500-gene setting.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</a:rPr>
              <a:t>Further 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992624"/>
            <a:ext cx="96012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simpler baselines such as logistic regression or random forest</a:t>
            </a:r>
            <a:endParaRPr lang="en-US" sz="1350" dirty="0"/>
          </a:p>
          <a:p>
            <a:r>
              <a:rPr lang="en-US" sz="13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on an external CRC cohort</a:t>
            </a:r>
            <a:endParaRPr lang="en-US" sz="1350" dirty="0"/>
          </a:p>
          <a:p>
            <a:r>
              <a:rPr lang="en-US" sz="13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from binary CMS2 prediction to all CMS subtypes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images/tit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663854"/>
            <a:ext cx="5760720" cy="55302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1"/>
          <p:cNvSpPr/>
          <p:nvPr/>
        </p:nvSpPr>
        <p:spPr>
          <a:xfrm>
            <a:off x="777240" y="1920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Luca Baldi &amp; Serna Sürer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ZHAW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Colorectal Cancer Subtypes with Deep Learning</dc:title>
  <dc:subject>Predicting Colorectal Cancer Subtypes with Deep Learning</dc:subject>
  <dc:creator>Luca Baldi &amp; Serna Sürer</dc:creator>
  <cp:lastModifiedBy>Sürer Serna (suereser)</cp:lastModifiedBy>
  <cp:revision>3</cp:revision>
  <dcterms:created xsi:type="dcterms:W3CDTF">2026-05-25T11:01:53Z</dcterms:created>
  <dcterms:modified xsi:type="dcterms:W3CDTF">2026-05-26T15:11:39Z</dcterms:modified>
</cp:coreProperties>
</file>